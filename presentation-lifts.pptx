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5143500"/>
          </a:xfrm>
          <a:prstGeom prst="rect">
            <a:avLst/>
          </a:prstGeom>
          <a:solidFill>
            <a:srgbClr val="FF7A42"/>
          </a:solidFill>
          <a:ln w="12700">
            <a:solidFill>
              <a:srgbClr val="FF7A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5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ЛифтКонтроль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8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Цифровая платформа управления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B8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лифтовым хозяйством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109728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49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Эффективное управление. Прозрачный контроль. Быстрая реакция.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41148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Проблема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Бумажный учёт и ручная диспетчеризация — тупик для роста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265176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📋  Журналы заявок на бумаге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92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Заявки теряются, дублируются, невозможно отследить статус в реальном времени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508760"/>
            <a:ext cx="265176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📞  Диспетчеризация по телефону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892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Ручное назначение техников, нет контроля выполнения, постоянные ошибки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15087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508760"/>
            <a:ext cx="265176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📊  Нет аналитики и отчётности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892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Руководитель не видит картину целиком: ни KPI, ни SLA, ни рейтингов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6517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651760"/>
            <a:ext cx="265176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🔧  ТО планируется «на глаз»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035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Пропуски плановых обслуживаний, рост аварийных ситуаций, штрафы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26517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651760"/>
            <a:ext cx="265176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🏢  Разрозненные системы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035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Разные объекты ведутся в разных таблицах, нет единой базы лифтов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26517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651760"/>
            <a:ext cx="265176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👷  Нет контроля техников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035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Невозможно отследить, кто, когда и что сделал на объекте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41148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Решение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ЛифтКонтроль — единая цифровая платформа для обслуживания лифтов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2651760" cy="54864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691640"/>
            <a:ext cx="640080" cy="64008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Диспетчерская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1272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Приём и распределение заявок, контроль исполнения, история обращений по каждому лифту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508760"/>
            <a:ext cx="2651760" cy="54864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691640"/>
            <a:ext cx="640080" cy="64008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29000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Мобильное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31272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Техники получают задания на телефон, отмечают выполнение, фотографируют результат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50876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508760"/>
            <a:ext cx="2651760" cy="54864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1691640"/>
            <a:ext cx="640080" cy="64008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63640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Аналитика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 отчётность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31272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Дашборд директора, KPI техников, рейтинги, SLA, автоматические отчёты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Дополнительно: QR-коды для жителей · Интеграция с внешними системами · Электронный паспорт лифта · Планирование ТО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Система в цифрах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468880" cy="1463040"/>
          </a:xfrm>
          <a:prstGeom prst="rect">
            <a:avLst/>
          </a:prstGeom>
          <a:solidFill>
            <a:srgbClr val="24243E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246888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1 500+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лифтов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подключено к платформе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468880" cy="1463040"/>
          </a:xfrm>
          <a:prstGeom prst="rect">
            <a:avLst/>
          </a:prstGeom>
          <a:solidFill>
            <a:srgbClr val="24243E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97280"/>
            <a:ext cx="246888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34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83280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компаний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1762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обслуживают объекты в системе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468880" cy="1463040"/>
          </a:xfrm>
          <a:prstGeom prst="rect">
            <a:avLst/>
          </a:prstGeom>
          <a:solidFill>
            <a:srgbClr val="24243E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097280"/>
            <a:ext cx="246888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234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регионов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1762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охвачено в России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834640"/>
            <a:ext cx="2468880" cy="1463040"/>
          </a:xfrm>
          <a:prstGeom prst="rect">
            <a:avLst/>
          </a:prstGeom>
          <a:solidFill>
            <a:srgbClr val="24243E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834640"/>
            <a:ext cx="246888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71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90%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40080" y="3639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заявок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9136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обрабатывается в срок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91840" y="2834640"/>
            <a:ext cx="2468880" cy="1463040"/>
          </a:xfrm>
          <a:prstGeom prst="rect">
            <a:avLst/>
          </a:prstGeom>
          <a:solidFill>
            <a:srgbClr val="24243E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834640"/>
            <a:ext cx="246888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971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 сек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3383280" y="3639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среднее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9136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время реакции на заявку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2834640"/>
            <a:ext cx="2468880" cy="1463040"/>
          </a:xfrm>
          <a:prstGeom prst="rect">
            <a:avLst/>
          </a:prstGeom>
          <a:solidFill>
            <a:srgbClr val="24243E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2834640"/>
            <a:ext cx="246888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971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126480" y="3639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заявок/ч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39136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обрабатывает один оператор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41148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Ролевая модель системы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Каждый участник получает свой личный кабинет с нужным ему функционалом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600200"/>
            <a:ext cx="36576" cy="8229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👔 Директор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18928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Аналитика, KPI, рейтинги техников, сводные отчёты по всем объектам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600200"/>
            <a:ext cx="36576" cy="8229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🎧 Оператор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0712" y="18928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Приём заявок, назначение техников, контроль статусов, журнал событий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4173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600200"/>
            <a:ext cx="36576" cy="8229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🔧 Техник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5352" y="18928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Мобильное приложение: задания, маршруты, фотоотчёт, подпись актов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788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971800"/>
            <a:ext cx="36576" cy="8229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🚨 Служба эвакуации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" y="32644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Мгновенные уведомления об аварийных ситуациях, доступ к паспорту лифта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788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971800"/>
            <a:ext cx="36576" cy="8229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🏢 Диспетчер объекта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10712" y="32644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Локальный контроль за конкретным жилым комплексом или зданием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2788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971800"/>
            <a:ext cx="36576" cy="8229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📋 Администратор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45352" y="32644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Управление справочниками, пользователями, настройка системы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41148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Интерфейс системы — главный экран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solidFill>
            <a:srgbClr val="F0E8E3"/>
          </a:solidFill>
          <a:ln w="25400">
            <a:solidFill>
              <a:srgbClr val="E85D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D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📸 Вставьте скриншот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85D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дашборда системы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Рекомендуемый размер: 1920×1080 или 1280×720 · Формат: PNG или JPG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41148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Управление заявками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Полный жизненный цикл заявки от регистрации до закрытия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4173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6E6E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1417320" cy="292608"/>
          </a:xfrm>
          <a:prstGeom prst="rect">
            <a:avLst/>
          </a:prstGeom>
          <a:solidFill>
            <a:srgbClr val="6E6E73"/>
          </a:solidFill>
          <a:ln w="12700">
            <a:solidFill>
              <a:srgbClr val="6E6E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Новая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647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Зарегистрирована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системе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965960"/>
            <a:ext cx="201168" cy="0"/>
          </a:xfrm>
          <a:prstGeom prst="line">
            <a:avLst/>
          </a:prstGeom>
          <a:noFill/>
          <a:ln w="25400">
            <a:solidFill>
              <a:srgbClr val="E85D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417320"/>
            <a:ext cx="14173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D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03120" y="1417320"/>
            <a:ext cx="1417320" cy="292608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417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обработке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17647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Назначен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ответственный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38728" y="1965960"/>
            <a:ext cx="201168" cy="0"/>
          </a:xfrm>
          <a:prstGeom prst="line">
            <a:avLst/>
          </a:prstGeom>
          <a:noFill/>
          <a:ln w="25400">
            <a:solidFill>
              <a:srgbClr val="E85D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1417320"/>
            <a:ext cx="14173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2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1417320"/>
            <a:ext cx="1417320" cy="292608"/>
          </a:xfrm>
          <a:prstGeom prst="rect">
            <a:avLst/>
          </a:prstGeom>
          <a:solidFill>
            <a:srgbClr val="0082C8"/>
          </a:solidFill>
          <a:ln w="12700">
            <a:solidFill>
              <a:srgbClr val="0082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1417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работе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17647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Техник выехал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 объект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84648" y="1965960"/>
            <a:ext cx="201168" cy="0"/>
          </a:xfrm>
          <a:prstGeom prst="line">
            <a:avLst/>
          </a:prstGeom>
          <a:noFill/>
          <a:ln w="25400">
            <a:solidFill>
              <a:srgbClr val="E85D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0" y="1417320"/>
            <a:ext cx="14173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94960" y="1417320"/>
            <a:ext cx="141732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417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Проверка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17647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Ожидает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подтверждения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30568" y="1965960"/>
            <a:ext cx="201168" cy="0"/>
          </a:xfrm>
          <a:prstGeom prst="line">
            <a:avLst/>
          </a:prstGeom>
          <a:noFill/>
          <a:ln w="25400">
            <a:solidFill>
              <a:srgbClr val="E85D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1417320"/>
            <a:ext cx="14173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40880" y="1417320"/>
            <a:ext cx="14173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1417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Завершена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17647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Акт подписан,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закрыта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834640"/>
            <a:ext cx="1920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2999232"/>
            <a:ext cx="411480" cy="41148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🔔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43000" y="29992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Уведомления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3474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SMS/push при смене статуса заявки — жителям и технику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0" y="2834640"/>
            <a:ext cx="1920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0" y="2999232"/>
            <a:ext cx="411480" cy="41148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📷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246120" y="29992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Фотоотчёт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743200" y="3474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Техник прикрепляет фото до и после выполнения работ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834640"/>
            <a:ext cx="1920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2999232"/>
            <a:ext cx="411480" cy="41148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⏱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49240" y="29992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SLA-контроль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46320" y="3474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Система предупреждает о заявках с риском нарушения срока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66560" y="2834640"/>
            <a:ext cx="1920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949440" y="2999232"/>
            <a:ext cx="411480" cy="41148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🎯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452360" y="29992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Приоритеты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49440" y="3474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Аварийные, плановые и срочные заявки по отдельным очередям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41148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Рейтинговая система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Объективная оценка каждого участника процесса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3840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89888"/>
            <a:ext cx="384048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Параметры оценки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  Процент заявок, выполненных в срок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⚡  Среднее время реакции на заявку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🔄  Количество повторных обращений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284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📸  Полнота фотоотчётов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039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⭐  Оценки жителей и управляющих компаний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2793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📋  Соблюдение регламентов и стандартов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389888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554480"/>
            <a:ext cx="411480" cy="41148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57800" y="15544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Мотивация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02996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Лучшие техники видят свой рейтинг и стремятся к росту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1389888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554480"/>
            <a:ext cx="411480" cy="41148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📊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60920" y="15544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Прозрачность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02996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Руководитель видит реальную картину без субъективности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264408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429000"/>
            <a:ext cx="411480" cy="41148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57800" y="3429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 KPI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390448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Геймификация повышает скорость и качество работ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3264408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58000" y="3429000"/>
            <a:ext cx="411480" cy="41148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🎯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60920" y="3429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Управление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390448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Данные рейтинга влияют на назначение приоритетных заявок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41148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Техническое обслуживание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Автоматическое планирование и контроль графиков ТО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40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84048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📅  Автоматическое расписание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5623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Система сама формирует график ТО на основе нормативов и истории обслуживания каждого лифта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3840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417320"/>
            <a:ext cx="384048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🔔  Напоминания и уведомления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85623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 3 дня до плановой даты техник и диспетчер получают уведомление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840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80360"/>
            <a:ext cx="384048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📋  Электронный паспорт лифта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31927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Полная история: монтаж, ТО, ремонты, замены деталей, акты сдачи-приёмки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2880360"/>
            <a:ext cx="3840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880360"/>
            <a:ext cx="384048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📊  Контроль выполнения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331927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Директор в реальном времени видит, какие ТО проведены, какие просрочены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41148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Мобильное приложение для техников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Техник работает с телефона — без бумаг и звонков диспетчеру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194560" cy="3566160"/>
          </a:xfrm>
          <a:prstGeom prst="roundRect">
            <a:avLst>
              <a:gd name="adj" fmla="val 8333"/>
            </a:avLst>
          </a:prstGeom>
          <a:solidFill>
            <a:srgbClr val="1A1A2E"/>
          </a:solidFill>
          <a:ln w="25400">
            <a:solidFill>
              <a:srgbClr val="E85D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1828800" cy="2834640"/>
          </a:xfrm>
          <a:prstGeom prst="rect">
            <a:avLst/>
          </a:prstGeom>
          <a:solidFill>
            <a:srgbClr val="24243E"/>
          </a:solidFill>
          <a:ln w="12700">
            <a:solidFill>
              <a:srgbClr val="3333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D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5D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Мобильный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5D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кабинет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5D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техника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298448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1298448"/>
            <a:ext cx="265176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13898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📬  Список заявок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18688" y="1691640"/>
            <a:ext cx="2432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Текущие задания с адресом, типом работ и приоритетом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298448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0" y="1298448"/>
            <a:ext cx="265176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53328" y="13898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🗺️  Маршрут на карте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53328" y="1691640"/>
            <a:ext cx="2432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Навигация прямо из приложения до объекта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2532888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08960" y="2532888"/>
            <a:ext cx="265176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262432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📷  Фотоотчёт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18688" y="2926080"/>
            <a:ext cx="2432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Фото до и после, прямо из камеры телефона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2532888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2532888"/>
            <a:ext cx="265176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262432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✍️  Электронная подпись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53328" y="2926080"/>
            <a:ext cx="2432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Акт выполненных работ подписывается на месте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0" y="3767328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08960" y="3767328"/>
            <a:ext cx="265176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18688" y="38587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📟  QR-сканер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18688" y="4160520"/>
            <a:ext cx="2432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Сканирование кода лифта для быстрого открытия паспорта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3767328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0" y="3767328"/>
            <a:ext cx="265176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53328" y="38587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📴  Офлайн-режим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53328" y="4160520"/>
            <a:ext cx="2432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Работает без интернета — синхронизация при подключении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41148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Интеграции и модули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389888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527048"/>
            <a:ext cx="457200" cy="45720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554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Внешние диспетчерские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2048256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Подключение к ЛКДС ОБЫ, ЕССАН и другим действующим системам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389888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0712" y="1527048"/>
            <a:ext cx="457200" cy="45720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🏘️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77640" y="1554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УК и ТСЖ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10712" y="2048256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Интеграция с системами управляющих компаний и ТСЖ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389888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45352" y="1527048"/>
            <a:ext cx="457200" cy="45720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1554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QR-коды для жителей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45352" y="2048256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Жители сканируют код в кабине и подают заявку напрямую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761488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072" y="2898648"/>
            <a:ext cx="457200" cy="45720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2926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Email и SMS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" y="3419856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Автоматические уведомления при изменении статуса заявки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761488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10712" y="2898648"/>
            <a:ext cx="457200" cy="45720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77640" y="2926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Единый вход (SSO)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10712" y="3419856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Авторизация через корпоративный портал или ЕСИА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2761488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45352" y="2898648"/>
            <a:ext cx="457200" cy="457200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🛠️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12280" y="2926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API для разработчиков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45352" y="3419856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 API для подключения любых внешних сервисов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Готовы к демонстрации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8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Подключим вашу компанию к системе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B8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 проведём обучение персонала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606040"/>
            <a:ext cx="822960" cy="3657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834640"/>
            <a:ext cx="2651760" cy="1737360"/>
          </a:xfrm>
          <a:prstGeom prst="rect">
            <a:avLst/>
          </a:prstGeom>
          <a:solidFill>
            <a:srgbClr val="24243E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D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Запрос демо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80390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Свяжитесь с нами — покажем систему в действии за 30 минут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2834640"/>
            <a:ext cx="2651760" cy="1737360"/>
          </a:xfrm>
          <a:prstGeom prst="rect">
            <a:avLst/>
          </a:prstGeom>
          <a:solidFill>
            <a:srgbClr val="24243E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D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Пилотный запуск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380390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Бесплатное подключение 50 лифтов на 14 дней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2834640"/>
            <a:ext cx="2651760" cy="1737360"/>
          </a:xfrm>
          <a:prstGeom prst="rect">
            <a:avLst/>
          </a:prstGeom>
          <a:solidFill>
            <a:srgbClr val="24243E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D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Полное внедрение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380390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Подписание договора, обучение, интеграция со смежными системами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ЛифтКонтроль</dc:title>
  <dc:subject>PptxGenJS Presentation</dc:subject>
  <dc:creator>ЛифтКонтроль</dc:creator>
  <cp:lastModifiedBy>ЛифтКонтроль</cp:lastModifiedBy>
  <cp:revision>1</cp:revision>
  <dcterms:created xsi:type="dcterms:W3CDTF">2026-04-08T10:09:41Z</dcterms:created>
  <dcterms:modified xsi:type="dcterms:W3CDTF">2026-04-08T10:09:41Z</dcterms:modified>
</cp:coreProperties>
</file>